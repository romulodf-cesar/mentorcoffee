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9" r:id="rId3"/>
    <p:sldId id="268" r:id="rId4"/>
    <p:sldId id="270" r:id="rId5"/>
    <p:sldId id="271" r:id="rId6"/>
    <p:sldId id="257" r:id="rId7"/>
    <p:sldId id="258" r:id="rId8"/>
    <p:sldId id="259" r:id="rId9"/>
    <p:sldId id="260" r:id="rId10"/>
    <p:sldId id="261" r:id="rId11"/>
    <p:sldId id="262" r:id="rId12"/>
    <p:sldId id="272" r:id="rId13"/>
    <p:sldId id="273" r:id="rId14"/>
    <p:sldId id="274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6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rag_deck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6230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7889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Hugging Face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033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transformamos texto em números — e por que isso vai ser o cérebro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nosso Chatbot RAG com LlamaIndex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Rômulo  •  Curso Técnico em Inteligência Artificial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691156" y="2978092"/>
            <a:ext cx="429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PLN (Processamento de Linguagem Natural)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494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34288" y="408747"/>
            <a:ext cx="3836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https://platform.openai.com/tokenizer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8" y="778079"/>
            <a:ext cx="8835554" cy="579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8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31" y="346614"/>
            <a:ext cx="68865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1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62855" y="312301"/>
            <a:ext cx="106092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 err="1"/>
              <a:t>token</a:t>
            </a:r>
            <a:r>
              <a:rPr lang="pt-BR" dirty="0"/>
              <a:t> é a menor unidade textual delimitada que um modelo analisa separadamente</a:t>
            </a:r>
          </a:p>
        </p:txBody>
      </p:sp>
      <p:sp>
        <p:nvSpPr>
          <p:cNvPr id="3" name="Retângulo 2"/>
          <p:cNvSpPr/>
          <p:nvPr/>
        </p:nvSpPr>
        <p:spPr>
          <a:xfrm>
            <a:off x="293614" y="1159589"/>
            <a:ext cx="105785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O processo de dividir um texto em </a:t>
            </a:r>
            <a:r>
              <a:rPr lang="pt-BR" dirty="0" err="1"/>
              <a:t>tokens</a:t>
            </a:r>
            <a:r>
              <a:rPr lang="pt-BR" dirty="0"/>
              <a:t> é chamado de </a:t>
            </a:r>
            <a:r>
              <a:rPr lang="pt-BR" b="1" dirty="0" err="1"/>
              <a:t>tokenização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3614" y="1715170"/>
            <a:ext cx="10578517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chemeClr val="bg1"/>
                </a:solidFill>
              </a:rPr>
              <a:t>Corpus (plural </a:t>
            </a:r>
            <a:r>
              <a:rPr lang="pt-BR" b="1" i="1" dirty="0">
                <a:solidFill>
                  <a:schemeClr val="bg1"/>
                </a:solidFill>
              </a:rPr>
              <a:t>corpora</a:t>
            </a:r>
            <a:r>
              <a:rPr lang="pt-BR" b="1" dirty="0">
                <a:solidFill>
                  <a:schemeClr val="bg1"/>
                </a:solidFill>
              </a:rPr>
              <a:t>) </a:t>
            </a:r>
            <a:r>
              <a:rPr lang="pt-BR" dirty="0">
                <a:solidFill>
                  <a:schemeClr val="bg1"/>
                </a:solidFill>
              </a:rPr>
              <a:t>é um conjunto organizado e estruturado de dados linguísticos (textos escritos ou gravações de fala) coletados a partir do uso real da linguagem humana. Serve de base empírica para análises linguísticas, treinamento e validação de modelos em Processamento de Linguagem Natural (PLN)</a:t>
            </a:r>
          </a:p>
        </p:txBody>
      </p:sp>
      <p:sp>
        <p:nvSpPr>
          <p:cNvPr id="5" name="Retângulo 4"/>
          <p:cNvSpPr/>
          <p:nvPr/>
        </p:nvSpPr>
        <p:spPr>
          <a:xfrm>
            <a:off x="293614" y="2767962"/>
            <a:ext cx="1057851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Penn </a:t>
            </a:r>
            <a:r>
              <a:rPr lang="pt-BR" b="1" dirty="0" err="1" smtClean="0"/>
              <a:t>Treebank</a:t>
            </a:r>
            <a:r>
              <a:rPr lang="pt-BR" b="1" dirty="0"/>
              <a:t>: </a:t>
            </a:r>
            <a:r>
              <a:rPr lang="pt-BR" dirty="0"/>
              <a:t>Criado na Universidade da Pensilvânia, é o corpus de sintaxe mais famoso do mundo</a:t>
            </a:r>
            <a:r>
              <a:rPr lang="pt-BR" dirty="0" smtClean="0"/>
              <a:t>.</a:t>
            </a:r>
          </a:p>
          <a:p>
            <a:r>
              <a:rPr lang="pt-BR" dirty="0" smtClean="0"/>
              <a:t>Contém </a:t>
            </a:r>
            <a:r>
              <a:rPr lang="pt-BR" dirty="0"/>
              <a:t>milhões de palavras marcadas com análise sintática detalhada (árvores sintáticas / </a:t>
            </a:r>
            <a:r>
              <a:rPr lang="pt-BR" i="1" dirty="0" err="1"/>
              <a:t>constituency</a:t>
            </a:r>
            <a:r>
              <a:rPr lang="pt-BR" i="1" dirty="0"/>
              <a:t> </a:t>
            </a:r>
            <a:r>
              <a:rPr lang="pt-BR" i="1" dirty="0" err="1"/>
              <a:t>parsing</a:t>
            </a:r>
            <a:r>
              <a:rPr lang="pt-BR" dirty="0"/>
              <a:t>). </a:t>
            </a:r>
          </a:p>
        </p:txBody>
      </p:sp>
      <p:sp>
        <p:nvSpPr>
          <p:cNvPr id="7" name="Retângulo 6"/>
          <p:cNvSpPr/>
          <p:nvPr/>
        </p:nvSpPr>
        <p:spPr>
          <a:xfrm>
            <a:off x="262855" y="3902789"/>
            <a:ext cx="106092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Análise de Sentimento: </a:t>
            </a:r>
            <a:r>
              <a:rPr lang="pt-BR" dirty="0" err="1"/>
              <a:t>IMDb</a:t>
            </a:r>
            <a:r>
              <a:rPr lang="pt-BR" dirty="0"/>
              <a:t> </a:t>
            </a:r>
            <a:r>
              <a:rPr lang="pt-BR" dirty="0" err="1"/>
              <a:t>Movie</a:t>
            </a:r>
            <a:r>
              <a:rPr lang="pt-BR" dirty="0"/>
              <a:t> </a:t>
            </a:r>
            <a:r>
              <a:rPr lang="pt-BR" dirty="0" err="1"/>
              <a:t>Reviews</a:t>
            </a:r>
            <a:r>
              <a:rPr lang="pt-BR" dirty="0"/>
              <a:t> e Stanford </a:t>
            </a:r>
            <a:r>
              <a:rPr lang="pt-BR" dirty="0" err="1"/>
              <a:t>Sentiment</a:t>
            </a:r>
            <a:r>
              <a:rPr lang="pt-BR" dirty="0"/>
              <a:t> </a:t>
            </a:r>
            <a:r>
              <a:rPr lang="pt-BR" dirty="0" err="1"/>
              <a:t>Treebank</a:t>
            </a:r>
            <a:r>
              <a:rPr lang="pt-BR" dirty="0"/>
              <a:t> (SST) </a:t>
            </a:r>
          </a:p>
        </p:txBody>
      </p:sp>
      <p:sp>
        <p:nvSpPr>
          <p:cNvPr id="8" name="Retângulo 7"/>
          <p:cNvSpPr/>
          <p:nvPr/>
        </p:nvSpPr>
        <p:spPr>
          <a:xfrm>
            <a:off x="280906" y="4485337"/>
            <a:ext cx="105912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/>
              <a:t>BrWaC</a:t>
            </a:r>
            <a:r>
              <a:rPr lang="pt-BR" dirty="0"/>
              <a:t> (</a:t>
            </a:r>
            <a:r>
              <a:rPr lang="pt-BR" dirty="0" err="1"/>
              <a:t>Brazilian</a:t>
            </a:r>
            <a:r>
              <a:rPr lang="pt-BR" dirty="0"/>
              <a:t> </a:t>
            </a:r>
            <a:r>
              <a:rPr lang="pt-BR" dirty="0" err="1"/>
              <a:t>Portuguese</a:t>
            </a:r>
            <a:r>
              <a:rPr lang="pt-BR" dirty="0"/>
              <a:t> Web as Corpus)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565321" y="5469622"/>
            <a:ext cx="365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CORPUS ========== </a:t>
            </a:r>
            <a:r>
              <a:rPr lang="en-US" b="1" dirty="0" err="1" smtClean="0"/>
              <a:t>DataSet</a:t>
            </a:r>
            <a:r>
              <a:rPr lang="en-US" b="1" dirty="0" smtClean="0"/>
              <a:t> da PLN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8571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0100" y="18059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rag_dec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023110"/>
            <a:ext cx="434340" cy="4343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1828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2212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computador não entende as palavras que a gente escreve.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0100" y="29489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/home/claude/rag_deck/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16611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2971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embedding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965960" y="3355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texto vira uma lista de números com significado.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0100" y="40919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/home/claude/rag_deck/icon_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430911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65960" y="4114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4498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"praça pública" onde a comunidade de IA compartilha modelos prontos.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0100" y="52349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/home/claude/rag_deck/icon_chat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" y="545211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965960" y="5257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projeto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965960" y="5641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tudo isso entra no Chatbot RAG que vamos construir com LlamaIndex.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Computadores não entendem palavras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943600" cy="448056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68680" y="196596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nós, a palavra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"cachorro"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já carrega um significado inteiro.
Para um computador, ela é só uma sequência de letras — sem nenhuma ideia do que é um cachorro, ou de que ele é parecido com um gato e diferente de um carro.
Precisamos de um jeito de traduzir texto em algo que a matemática do computador entenda: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rag_deck/icon_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3225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"cachorro"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3794760"/>
            <a:ext cx="0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001000" y="4114800"/>
            <a:ext cx="1188720" cy="11887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rag_deck/icon_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898" y="4441698"/>
            <a:ext cx="534924" cy="5349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isso??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modelo de embedding?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em uma frase, antes dos detalhes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2344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103601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“tradutor universal”: pega qualquer texto e devolve uma lista de números que representa o SIGNIFICADO daquele texto.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aluno faltou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às aulas”</a:t>
            </a:r>
            <a:endParaRPr lang="en-US" sz="1300" dirty="0"/>
          </a:p>
        </p:txBody>
      </p:sp>
      <p:pic>
        <p:nvPicPr>
          <p:cNvPr id="8" name="Image 0" descr="/home/claude/rag_deck/icon_arrowRight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434840"/>
            <a:ext cx="50292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393192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rag_deck/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427482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4920" y="5349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pic>
        <p:nvPicPr>
          <p:cNvPr id="12" name="Image 2" descr="/home/claude/rag_deck/icon_arrowRight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434840"/>
            <a:ext cx="50292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772400" y="402336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 txBox="1"/>
          <p:nvPr/>
        </p:nvSpPr>
        <p:spPr>
          <a:xfrm>
            <a:off x="7772400" y="4023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números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[ 0.12, -0.87, 0.34, ... 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Palavras parecidas ficam "pertinho"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gerados funcionam como coordenadas num mapa de significados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solidFill>
            <a:srgbClr val="E8F1F5"/>
          </a:solidFill>
          <a:ln w="12700">
            <a:solidFill>
              <a:srgbClr val="D6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3291840" cy="19202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463040" y="24231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rag_deck/icon_d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6517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4640" y="29718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rag_deck/icon_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200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cachorro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60604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animais de estimação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0" y="3840480"/>
            <a:ext cx="3383280" cy="1965960"/>
          </a:xfrm>
          <a:prstGeom prst="ellipse">
            <a:avLst/>
          </a:prstGeom>
          <a:solidFill>
            <a:srgbClr val="F9E795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7680960" y="4160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/home/claude/rag_deck/icon_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0" y="4366260"/>
            <a:ext cx="502920" cy="5029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44000" y="4663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/home/claude/rag_deck/icon_motor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740" y="48691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5102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8915400" y="5605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297680" y="3566160"/>
            <a:ext cx="3200400" cy="822960"/>
          </a:xfrm>
          <a:prstGeom prst="line">
            <a:avLst/>
          </a:prstGeom>
          <a:noFill/>
          <a:ln w="15875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46634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distantes no mapa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acontece, na prática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05940" y="278892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rag_deck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861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entra com um texto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palavra, uma frase ou um parágrafo inteiro — qualquer texto serve.</a:t>
            </a:r>
            <a:endParaRPr lang="en-US" sz="1200" dirty="0"/>
          </a:p>
        </p:txBody>
      </p:sp>
      <p:pic>
        <p:nvPicPr>
          <p:cNvPr id="9" name="Image 1" descr="/home/claude/rag_deck/icon_arrowRight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3794760"/>
            <a:ext cx="292608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8056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470916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5646420" y="278892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home/claude/rag_deck/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08610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processa o texto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foi treinado com bilhões de frases e aprendeu padrões de significado.</a:t>
            </a:r>
            <a:endParaRPr lang="en-US" sz="1200" dirty="0"/>
          </a:p>
        </p:txBody>
      </p:sp>
      <p:pic>
        <p:nvPicPr>
          <p:cNvPr id="16" name="Image 3" descr="/home/claude/rag_deck/icon_arrowRight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3794760"/>
            <a:ext cx="292608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321040" y="19202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 txBox="1"/>
          <p:nvPr/>
        </p:nvSpPr>
        <p:spPr>
          <a:xfrm>
            <a:off x="854964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Shape 13"/>
          <p:cNvSpPr/>
          <p:nvPr/>
        </p:nvSpPr>
        <p:spPr>
          <a:xfrm>
            <a:off x="9486900" y="278892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/home/claude/rag_deck/icon_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3086100"/>
            <a:ext cx="594360" cy="5943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59536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um vetor de números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59536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com centenas ou milhares de números — as “coordenadas” do significado.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Hugging Face?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rag_deck/icon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1828800"/>
            <a:ext cx="8321040" cy="237744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3566160" y="196596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Hugging Face é uma plataforma na internet — como um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“GitHub da Inteligência Artificial”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onde a comunidade mundial de IA publica, compartilha e reaproveita modelos já treinados, incluindo modelos de embedding prontos para usar.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914400" y="4617720"/>
            <a:ext cx="10360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treinar um modelo do zero — o que custa tempo e muito processamento — a gente baixa um modelo pronto e já testado por milhares de pessoas.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6" y="311354"/>
            <a:ext cx="4943991" cy="195367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77" y="311354"/>
            <a:ext cx="6680433" cy="447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6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8" y="343948"/>
            <a:ext cx="11378108" cy="575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5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68" y="100667"/>
            <a:ext cx="11500292" cy="643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2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encontra no Hugging 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0120" y="23545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rag_deck/icon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831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5146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modelos prontos: embeddings, chatbots, tradutores, geração de imagem e mais.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492240" y="23545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rag_deck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5831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5146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dados públicos para treinar ou testar modelos.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960120" y="46863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/home/claude/rag_deck/icon_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9149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57400" y="4434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057400" y="48463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interativas — dá para testar um modelo direto no navegador.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492240" y="46863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/home/claude/rag_deck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9149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434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8463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Fóruns, documentação e tutoriais mantidos por gente do mundo todo.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entra no nosso Chatbot RAG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que os documentos percorrem até virar uma resposta do chatbot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78992" y="2446020"/>
            <a:ext cx="1143000" cy="1143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rag_deck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2731770"/>
            <a:ext cx="571500" cy="571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textos e planilhas do nosso material</a:t>
            </a:r>
            <a:endParaRPr lang="en-US" sz="1050" dirty="0"/>
          </a:p>
        </p:txBody>
      </p:sp>
      <p:pic>
        <p:nvPicPr>
          <p:cNvPr id="8" name="Image 1" descr="/home/claude/rag_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834640"/>
            <a:ext cx="237744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00984" y="2446020"/>
            <a:ext cx="1143000" cy="1143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/home/claude/rag_deck/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734" y="2731770"/>
            <a:ext cx="571500" cy="5715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752344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798064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embedding transforma cada trecho em vetor</a:t>
            </a:r>
            <a:endParaRPr lang="en-US" sz="1050" dirty="0"/>
          </a:p>
        </p:txBody>
      </p:sp>
      <p:pic>
        <p:nvPicPr>
          <p:cNvPr id="13" name="Image 3" descr="/home/claude/rag_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34640"/>
            <a:ext cx="237744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522976" y="2446020"/>
            <a:ext cx="1143000" cy="1143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4" descr="/home/claude/rag_deck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726" y="2731770"/>
            <a:ext cx="571500" cy="5715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74336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vetorial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5020056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vetores ficam guardados e organizados</a:t>
            </a:r>
            <a:endParaRPr lang="en-US" sz="1050" dirty="0"/>
          </a:p>
        </p:txBody>
      </p:sp>
      <p:pic>
        <p:nvPicPr>
          <p:cNvPr id="18" name="Image 5" descr="/home/claude/rag_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834640"/>
            <a:ext cx="237744" cy="36576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744968" y="2446020"/>
            <a:ext cx="1143000" cy="1143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6" descr="/home/claude/rag_deck/icon_layer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0718" y="2731770"/>
            <a:ext cx="571500" cy="5715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196328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LlamaIndex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7242048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a busca pelos trechos mais relevantes</a:t>
            </a:r>
            <a:endParaRPr lang="en-US" sz="1050" dirty="0"/>
          </a:p>
        </p:txBody>
      </p:sp>
      <p:pic>
        <p:nvPicPr>
          <p:cNvPr id="23" name="Image 7" descr="/home/claude/rag_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834640"/>
            <a:ext cx="237744" cy="36576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966960" y="2446020"/>
            <a:ext cx="1143000" cy="1143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8" descr="/home/claude/rag_deck/icon_chat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710" y="2731770"/>
            <a:ext cx="571500" cy="5715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41832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9464040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os trechos encontrados para responder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18"/>
          <p:cNvSpPr txBox="1"/>
          <p:nvPr/>
        </p:nvSpPr>
        <p:spPr>
          <a:xfrm>
            <a:off x="822960" y="53035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Hugging Face entra bem no início: é de lá que baixamos o modelo de embedding que o LlamaIndex vai usar para transformar nossos documentos em vetores de significado.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precisamos disso na hora da pergunta?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truque serve para encontrar a resposta certa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aluno pergunta algo ao chatbot, o LlamaIndex também transforma a pergunta em um vetor — usando o mesmo modelo de embedding.
Depois, ele compara esse vetor com os vetores dos documentos e busca os trechos com significado mais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parecido (mais próximos no mapa)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mesmo que as palavras usadas sejam diferentes.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9202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92240" y="19202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do aluno: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faço para não perder o prazo da matrícula?"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915400" y="3017520"/>
            <a:ext cx="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5438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 vetor também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537960" y="38404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mais parecido, encontrado no material do curso: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prazo para renovar a matrícula é até o dia 20."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em 4 ideias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28700" y="20802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rag_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22745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Computadores só entendem números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788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precisamos “traduzir” texto.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560820" y="20802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rag_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22745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= tradutor de significado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788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texto em vetores; coisas parecidas ficam próximas.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0690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028700" y="43205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/home/claude/rag_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45148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343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= comunidade + modelos prontos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5029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lá que vem o modelo de embedding que vamos usar.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40690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560820" y="43205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/home/claude/rag_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451485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4343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base do nosso Chatbot RAG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5029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usa os embeddings para achar a resposta certa nos documentos.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Hugging Face — Chatbot RAG com LlamaIndex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362956" y="164592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rag_deck/icon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011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4747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4297680"/>
            <a:ext cx="9628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aula: mãos à obra — vamos escolher um modelo de embedding no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 conectá-lo ao nosso índice no LlamaIndex.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Rômulo  •  Curso Técnico em Inteligência Artificial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969</Words>
  <Application>Microsoft Office PowerPoint</Application>
  <PresentationFormat>Widescreen</PresentationFormat>
  <Paragraphs>135</Paragraphs>
  <Slides>19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Romulo Cesar Silvestre Leite</cp:lastModifiedBy>
  <cp:revision>8</cp:revision>
  <dcterms:created xsi:type="dcterms:W3CDTF">2026-09-13T18:17:45Z</dcterms:created>
  <dcterms:modified xsi:type="dcterms:W3CDTF">2026-09-15T00:48:53Z</dcterms:modified>
</cp:coreProperties>
</file>